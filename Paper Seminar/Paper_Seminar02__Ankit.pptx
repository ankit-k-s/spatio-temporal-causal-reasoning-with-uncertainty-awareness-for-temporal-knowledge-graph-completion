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3" r:id="rId2"/>
  </p:sldMasterIdLst>
  <p:notesMasterIdLst>
    <p:notesMasterId r:id="rId18"/>
  </p:notesMasterIdLst>
  <p:sldIdLst>
    <p:sldId id="256" r:id="rId3"/>
    <p:sldId id="300" r:id="rId4"/>
    <p:sldId id="313" r:id="rId5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0" roundtripDataSignature="AMtx7mjzGu3mMQQtvVShIYAyS4lRp2pE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8" d="100"/>
          <a:sy n="88" d="100"/>
        </p:scale>
        <p:origin x="1218" y="6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61" Type="http://schemas.openxmlformats.org/officeDocument/2006/relationships/presProps" Target="presProps.xml"/><Relationship Id="rId10" Type="http://schemas.openxmlformats.org/officeDocument/2006/relationships/slide" Target="slides/slide8.xml"/><Relationship Id="rId60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eb270ad62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geb270ad62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eb270ad625_0_102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geb270ad625_0_102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5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5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eb270ad625_0_805"/>
          <p:cNvSpPr txBox="1">
            <a:spLocks noGrp="1"/>
          </p:cNvSpPr>
          <p:nvPr>
            <p:ph type="dt" idx="10"/>
          </p:nvPr>
        </p:nvSpPr>
        <p:spPr>
          <a:xfrm>
            <a:off x="457200" y="6710302"/>
            <a:ext cx="21336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geb270ad625_0_805"/>
          <p:cNvSpPr txBox="1">
            <a:spLocks noGrp="1"/>
          </p:cNvSpPr>
          <p:nvPr>
            <p:ph type="ftr" idx="11"/>
          </p:nvPr>
        </p:nvSpPr>
        <p:spPr>
          <a:xfrm>
            <a:off x="1444977" y="6699012"/>
            <a:ext cx="6299100" cy="1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geb270ad625_0_805"/>
          <p:cNvSpPr txBox="1">
            <a:spLocks noGrp="1"/>
          </p:cNvSpPr>
          <p:nvPr>
            <p:ph type="sldNum" idx="12"/>
          </p:nvPr>
        </p:nvSpPr>
        <p:spPr>
          <a:xfrm>
            <a:off x="6553200" y="6710302"/>
            <a:ext cx="21336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eb270ad625_0_92"/>
          <p:cNvSpPr txBox="1"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geb270ad625_0_92"/>
          <p:cNvSpPr txBox="1"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geb270ad625_0_92"/>
          <p:cNvSpPr txBox="1"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geb270ad625_0_92"/>
          <p:cNvSpPr txBox="1"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10;geb270ad625_0_92" descr="BITS_university_logo_whitevert.png"/>
          <p:cNvPicPr preferRelativeResize="0"/>
          <p:nvPr/>
        </p:nvPicPr>
        <p:blipFill rotWithShape="1">
          <a:blip r:embed="rId4">
            <a:alphaModFix/>
          </a:blip>
          <a:srcRect b="28591"/>
          <a:stretch/>
        </p:blipFill>
        <p:spPr>
          <a:xfrm>
            <a:off x="76200" y="3352800"/>
            <a:ext cx="2057400" cy="197961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eb270ad625_0_92"/>
          <p:cNvSpPr txBox="1"/>
          <p:nvPr/>
        </p:nvSpPr>
        <p:spPr>
          <a:xfrm>
            <a:off x="-76200" y="5257801"/>
            <a:ext cx="220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geb270ad625_0_92"/>
          <p:cNvSpPr txBox="1"/>
          <p:nvPr/>
        </p:nvSpPr>
        <p:spPr>
          <a:xfrm>
            <a:off x="152400" y="5667376"/>
            <a:ext cx="19050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geb270ad625_0_92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geb270ad625_0_9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4"/>
          <p:cNvSpPr txBox="1"/>
          <p:nvPr/>
        </p:nvSpPr>
        <p:spPr>
          <a:xfrm>
            <a:off x="3276600" y="6596062"/>
            <a:ext cx="5867400" cy="2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114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Dept of CSIS,</a:t>
            </a: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 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" name="Google Shape;36;p134"/>
          <p:cNvGrpSpPr/>
          <p:nvPr/>
        </p:nvGrpSpPr>
        <p:grpSpPr>
          <a:xfrm>
            <a:off x="2084326" y="6549805"/>
            <a:ext cx="7059348" cy="49144"/>
            <a:chOff x="2083888" y="6550671"/>
            <a:chExt cx="7060054" cy="48600"/>
          </a:xfrm>
        </p:grpSpPr>
        <p:sp>
          <p:nvSpPr>
            <p:cNvPr id="37" name="Google Shape;37;p134"/>
            <p:cNvSpPr txBox="1"/>
            <p:nvPr/>
          </p:nvSpPr>
          <p:spPr>
            <a:xfrm>
              <a:off x="4630418" y="6550671"/>
              <a:ext cx="2328900" cy="48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34"/>
            <p:cNvSpPr txBox="1"/>
            <p:nvPr/>
          </p:nvSpPr>
          <p:spPr>
            <a:xfrm>
              <a:off x="6908642" y="6550671"/>
              <a:ext cx="2235300" cy="45600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34"/>
            <p:cNvSpPr txBox="1"/>
            <p:nvPr/>
          </p:nvSpPr>
          <p:spPr>
            <a:xfrm>
              <a:off x="2083888" y="6550671"/>
              <a:ext cx="2581500" cy="48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" name="Google Shape;40;p134" descr="Picture 7.png"/>
          <p:cNvPicPr preferRelativeResize="0"/>
          <p:nvPr/>
        </p:nvPicPr>
        <p:blipFill rotWithShape="1">
          <a:blip r:embed="rId4">
            <a:alphaModFix/>
          </a:blip>
          <a:srcRect l="1921" b="5338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134"/>
          <p:cNvGrpSpPr/>
          <p:nvPr/>
        </p:nvGrpSpPr>
        <p:grpSpPr>
          <a:xfrm>
            <a:off x="2133600" y="6553520"/>
            <a:ext cx="7010438" cy="45919"/>
            <a:chOff x="1905000" y="6553200"/>
            <a:chExt cx="7010438" cy="45600"/>
          </a:xfrm>
        </p:grpSpPr>
        <p:sp>
          <p:nvSpPr>
            <p:cNvPr id="42" name="Google Shape;42;p134"/>
            <p:cNvSpPr txBox="1"/>
            <p:nvPr/>
          </p:nvSpPr>
          <p:spPr>
            <a:xfrm>
              <a:off x="4267200" y="6553200"/>
              <a:ext cx="23289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34"/>
            <p:cNvSpPr txBox="1"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34"/>
            <p:cNvSpPr txBox="1"/>
            <p:nvPr/>
          </p:nvSpPr>
          <p:spPr>
            <a:xfrm>
              <a:off x="6586538" y="6553200"/>
              <a:ext cx="23289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" name="Google Shape;45;p134"/>
          <p:cNvGrpSpPr/>
          <p:nvPr/>
        </p:nvGrpSpPr>
        <p:grpSpPr>
          <a:xfrm>
            <a:off x="0" y="1295721"/>
            <a:ext cx="7010438" cy="45919"/>
            <a:chOff x="1905000" y="6553200"/>
            <a:chExt cx="7010438" cy="45600"/>
          </a:xfrm>
        </p:grpSpPr>
        <p:sp>
          <p:nvSpPr>
            <p:cNvPr id="46" name="Google Shape;46;p134"/>
            <p:cNvSpPr txBox="1"/>
            <p:nvPr/>
          </p:nvSpPr>
          <p:spPr>
            <a:xfrm>
              <a:off x="4267200" y="6553200"/>
              <a:ext cx="23289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34"/>
            <p:cNvSpPr txBox="1"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34"/>
            <p:cNvSpPr txBox="1"/>
            <p:nvPr/>
          </p:nvSpPr>
          <p:spPr>
            <a:xfrm>
              <a:off x="6586538" y="6553200"/>
              <a:ext cx="23289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" name="Google Shape;49;p134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3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eb270ad625_0_73"/>
          <p:cNvSpPr txBox="1">
            <a:spLocks noGrp="1"/>
          </p:cNvSpPr>
          <p:nvPr>
            <p:ph type="title"/>
          </p:nvPr>
        </p:nvSpPr>
        <p:spPr>
          <a:xfrm>
            <a:off x="2340485" y="3810000"/>
            <a:ext cx="6211287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 dirty="0"/>
              <a:t>State Space Models on Temporal Graphs</a:t>
            </a:r>
            <a:br>
              <a:rPr lang="en-US" sz="2400" dirty="0"/>
            </a:br>
            <a:r>
              <a:rPr lang="en-US" sz="2400" dirty="0"/>
              <a:t>A First-Principles Study: The GRAPHSSM Framework</a:t>
            </a:r>
            <a:br>
              <a:rPr lang="en-US" sz="3200" dirty="0"/>
            </a:br>
            <a:endParaRPr sz="3000" dirty="0"/>
          </a:p>
        </p:txBody>
      </p:sp>
      <p:sp>
        <p:nvSpPr>
          <p:cNvPr id="76" name="Google Shape;76;geb270ad625_0_73"/>
          <p:cNvSpPr txBox="1">
            <a:spLocks noGrp="1"/>
          </p:cNvSpPr>
          <p:nvPr>
            <p:ph type="body" idx="1"/>
          </p:nvPr>
        </p:nvSpPr>
        <p:spPr>
          <a:xfrm>
            <a:off x="2511047" y="5429546"/>
            <a:ext cx="5995178" cy="50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IN" sz="1600" dirty="0" err="1"/>
              <a:t>Jintang</a:t>
            </a:r>
            <a:r>
              <a:rPr lang="en-IN" sz="1600" dirty="0"/>
              <a:t> Li · </a:t>
            </a:r>
            <a:r>
              <a:rPr lang="en-IN" sz="1600" dirty="0" err="1"/>
              <a:t>Ruofan</a:t>
            </a:r>
            <a:r>
              <a:rPr lang="en-IN" sz="1600" dirty="0"/>
              <a:t> Wu · </a:t>
            </a:r>
            <a:r>
              <a:rPr lang="en-IN" sz="1600" dirty="0" err="1"/>
              <a:t>Xinzhou</a:t>
            </a:r>
            <a:r>
              <a:rPr lang="en-IN" sz="1600" dirty="0"/>
              <a:t> Jin · </a:t>
            </a:r>
            <a:r>
              <a:rPr lang="en-IN" sz="1600" dirty="0" err="1"/>
              <a:t>Boqun</a:t>
            </a:r>
            <a:r>
              <a:rPr lang="en-IN" sz="1600" dirty="0"/>
              <a:t> Ma · Liang Chen · Zibin Zheng</a:t>
            </a:r>
          </a:p>
          <a:p>
            <a:endParaRPr lang="en-IN" sz="1600" dirty="0"/>
          </a:p>
          <a:p>
            <a:r>
              <a:rPr lang="en-IN" sz="1600" dirty="0"/>
              <a:t>Ankit Kumar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8183D-7777-51CF-40AE-569742DCC02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28995" y="350837"/>
            <a:ext cx="6324600" cy="1143000"/>
          </a:xfrm>
        </p:spPr>
        <p:txBody>
          <a:bodyPr/>
          <a:lstStyle/>
          <a:p>
            <a:r>
              <a:rPr lang="en-IN" dirty="0"/>
              <a:t>Roadmap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27910-82C9-F386-E7A4-FEFC5BB8A358}"/>
              </a:ext>
            </a:extLst>
          </p:cNvPr>
          <p:cNvSpPr txBox="1"/>
          <p:nvPr/>
        </p:nvSpPr>
        <p:spPr>
          <a:xfrm>
            <a:off x="609599" y="1589313"/>
            <a:ext cx="807720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1. The Problem</a:t>
            </a:r>
          </a:p>
          <a:p>
            <a:r>
              <a:rPr lang="en-IN" sz="1800" dirty="0"/>
              <a:t>	Why static models fail on dynamic graphs</a:t>
            </a:r>
          </a:p>
          <a:p>
            <a:r>
              <a:rPr lang="en-IN" sz="1800" b="1" dirty="0"/>
              <a:t>2. Previous Architectures</a:t>
            </a:r>
          </a:p>
          <a:p>
            <a:r>
              <a:rPr lang="en-IN" sz="1800" dirty="0"/>
              <a:t>	RNNs, Transformers, and early SSMs — limitations</a:t>
            </a:r>
          </a:p>
          <a:p>
            <a:r>
              <a:rPr lang="en-IN" sz="1800" b="1" dirty="0"/>
              <a:t>3. </a:t>
            </a:r>
            <a:r>
              <a:rPr lang="en-IN" sz="1800" b="1" dirty="0" err="1"/>
              <a:t>HiPPO</a:t>
            </a:r>
            <a:r>
              <a:rPr lang="en-IN" sz="1800" b="1" dirty="0"/>
              <a:t> Framework</a:t>
            </a:r>
          </a:p>
          <a:p>
            <a:r>
              <a:rPr lang="en-IN" sz="1800" dirty="0"/>
              <a:t>	The mathematical backbone of modern SSMs</a:t>
            </a:r>
          </a:p>
          <a:p>
            <a:r>
              <a:rPr lang="en-IN" sz="1800" b="1" dirty="0"/>
              <a:t>4. GHIPPO Abstraction</a:t>
            </a:r>
          </a:p>
          <a:p>
            <a:r>
              <a:rPr lang="en-IN" sz="1800" dirty="0"/>
              <a:t>	Extending </a:t>
            </a:r>
            <a:r>
              <a:rPr lang="en-IN" sz="1800" dirty="0" err="1"/>
              <a:t>HiPPO</a:t>
            </a:r>
            <a:r>
              <a:rPr lang="en-IN" sz="1800" dirty="0"/>
              <a:t> to graphs via Laplacian regularization</a:t>
            </a:r>
          </a:p>
          <a:p>
            <a:r>
              <a:rPr lang="en-IN" sz="1800" b="1" dirty="0"/>
              <a:t>5. Unobserved Mutations</a:t>
            </a:r>
          </a:p>
          <a:p>
            <a:r>
              <a:rPr lang="en-IN" sz="1800" dirty="0"/>
              <a:t>	The discretization dilemma &amp; oracle solution</a:t>
            </a:r>
          </a:p>
          <a:p>
            <a:r>
              <a:rPr lang="en-IN" sz="1800" b="1" dirty="0"/>
              <a:t>6. Mixed Discretization</a:t>
            </a:r>
          </a:p>
          <a:p>
            <a:r>
              <a:rPr lang="en-IN" sz="1800" dirty="0"/>
              <a:t>	Practical approximation strategy</a:t>
            </a:r>
          </a:p>
          <a:p>
            <a:r>
              <a:rPr lang="en-IN" sz="1800" b="1" dirty="0"/>
              <a:t>7. Results &amp; Insights</a:t>
            </a:r>
          </a:p>
          <a:p>
            <a:r>
              <a:rPr lang="en-IN" sz="1800" dirty="0"/>
              <a:t>	Empirical validation and key findings</a:t>
            </a:r>
          </a:p>
        </p:txBody>
      </p:sp>
    </p:spTree>
    <p:extLst>
      <p:ext uri="{BB962C8B-B14F-4D97-AF65-F5344CB8AC3E}">
        <p14:creationId xmlns:p14="http://schemas.microsoft.com/office/powerpoint/2010/main" val="3141216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68FFE8-7AD7-BABB-41D5-D6C63FA38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B731C-AD16-F90D-8005-C4055DAB52C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Hilbert 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EF2B88-6C5C-12B4-853F-6C0213502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493837"/>
            <a:ext cx="8553450" cy="466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315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8C5D46-7FB6-CDDD-E0A9-0D07333C0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7714" y="1450294"/>
            <a:ext cx="4142014" cy="2180171"/>
          </a:xfrm>
        </p:spPr>
        <p:txBody>
          <a:bodyPr/>
          <a:lstStyle/>
          <a:p>
            <a:r>
              <a:rPr lang="en-US" sz="1400" b="1" dirty="0"/>
              <a:t>Real-World Dynamic Systems</a:t>
            </a:r>
          </a:p>
          <a:p>
            <a:r>
              <a:rPr lang="en-US" sz="1400" dirty="0"/>
              <a:t>Social networks, traffic grids, brain connectomes, and financial networks all evolve continuously — edges are inserted and deleted between discrete observations.</a:t>
            </a:r>
          </a:p>
          <a:p>
            <a:r>
              <a:rPr lang="en-US" sz="1400" b="1" dirty="0"/>
              <a:t>Core Challenge:</a:t>
            </a:r>
            <a:r>
              <a:rPr lang="en-US" sz="1400" dirty="0"/>
              <a:t> Graph mutations are entirely unobserved, yet they fundamentally shape future states.</a:t>
            </a:r>
          </a:p>
          <a:p>
            <a:endParaRPr lang="en-IN" sz="1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0705F-781D-8CC9-EB1A-23391AB0649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44930" y="359228"/>
            <a:ext cx="6542314" cy="936171"/>
          </a:xfrm>
        </p:spPr>
        <p:txBody>
          <a:bodyPr/>
          <a:lstStyle/>
          <a:p>
            <a:r>
              <a:rPr lang="en-US" sz="3200" dirty="0"/>
              <a:t>The Problem: Real-World Graphs Are Dynamic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84353A-8027-9FEC-C66F-9933E76534FE}"/>
              </a:ext>
            </a:extLst>
          </p:cNvPr>
          <p:cNvSpPr txBox="1"/>
          <p:nvPr/>
        </p:nvSpPr>
        <p:spPr>
          <a:xfrm>
            <a:off x="4572001" y="1556657"/>
            <a:ext cx="4267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Observation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only observe discrete snapshots at times τ₁, τ₂, τ₃, ... The true topology evolves continuously in the gaps between observations.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Hidden mutations mean we never see the actual graph structure during each interval — only the endpoints.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EB0306-9775-731A-BBD2-C25F539AB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792"/>
          <a:stretch>
            <a:fillRect/>
          </a:stretch>
        </p:blipFill>
        <p:spPr>
          <a:xfrm>
            <a:off x="2087812" y="3592365"/>
            <a:ext cx="4968376" cy="267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95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47E134-F28F-9C40-8A94-613AC3659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2775857" cy="4526100"/>
          </a:xfrm>
        </p:spPr>
        <p:txBody>
          <a:bodyPr/>
          <a:lstStyle/>
          <a:p>
            <a:r>
              <a:rPr lang="en-IN" sz="1600" b="1" dirty="0"/>
              <a:t>RNNs / LSTMs / GRUs</a:t>
            </a:r>
          </a:p>
          <a:p>
            <a:r>
              <a:rPr lang="en-IN" sz="1600" b="1" dirty="0"/>
              <a:t>Era:</a:t>
            </a:r>
            <a:r>
              <a:rPr lang="en-IN" sz="1600" dirty="0"/>
              <a:t> 1990s–2010s</a:t>
            </a:r>
          </a:p>
          <a:p>
            <a:r>
              <a:rPr lang="en-IN" sz="1600" b="1" dirty="0"/>
              <a:t>How it works:</a:t>
            </a:r>
            <a:r>
              <a:rPr lang="en-IN" sz="1600" dirty="0"/>
              <a:t> Process sequences step-by-step via recurrence</a:t>
            </a:r>
          </a:p>
          <a:p>
            <a:r>
              <a:rPr lang="en-IN" sz="1600" b="1" dirty="0"/>
              <a:t>Strengths:</a:t>
            </a:r>
            <a:r>
              <a:rPr lang="en-IN" sz="1600" dirty="0"/>
              <a:t> </a:t>
            </a:r>
          </a:p>
          <a:p>
            <a:r>
              <a:rPr lang="en-IN" sz="1600" dirty="0"/>
              <a:t>✓ Natural recurrence </a:t>
            </a:r>
          </a:p>
          <a:p>
            <a:r>
              <a:rPr lang="en-IN" sz="1600" dirty="0"/>
              <a:t>✓ Constant memory </a:t>
            </a:r>
          </a:p>
          <a:p>
            <a:r>
              <a:rPr lang="en-IN" sz="1600" dirty="0"/>
              <a:t>✓ O(N) complexity</a:t>
            </a:r>
          </a:p>
          <a:p>
            <a:r>
              <a:rPr lang="en-IN" sz="1600" b="1" dirty="0"/>
              <a:t>Limitations:</a:t>
            </a:r>
            <a:r>
              <a:rPr lang="en-IN" sz="1600" dirty="0"/>
              <a:t> </a:t>
            </a:r>
          </a:p>
          <a:p>
            <a:r>
              <a:rPr lang="en-IN" sz="1600" dirty="0"/>
              <a:t>✗ Vanishing gradients </a:t>
            </a:r>
          </a:p>
          <a:p>
            <a:r>
              <a:rPr lang="en-IN" sz="1600" dirty="0"/>
              <a:t>✗ Forgets early history </a:t>
            </a:r>
          </a:p>
          <a:p>
            <a:r>
              <a:rPr lang="en-IN" sz="1600" dirty="0"/>
              <a:t>✗ No structural awareness</a:t>
            </a:r>
          </a:p>
          <a:p>
            <a:endParaRPr lang="en-IN" sz="16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9602A-34D1-3118-C0E7-2B21BEF6092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14300" y="350837"/>
            <a:ext cx="5976257" cy="1143000"/>
          </a:xfrm>
        </p:spPr>
        <p:txBody>
          <a:bodyPr/>
          <a:lstStyle/>
          <a:p>
            <a:r>
              <a:rPr lang="en-IN" dirty="0"/>
              <a:t>Previous Architectures &amp; Their Limitations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5950B4-4DDA-5D4B-5A7C-319B43C87A83}"/>
              </a:ext>
            </a:extLst>
          </p:cNvPr>
          <p:cNvSpPr txBox="1"/>
          <p:nvPr/>
        </p:nvSpPr>
        <p:spPr>
          <a:xfrm>
            <a:off x="3222171" y="1578429"/>
            <a:ext cx="256358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Transformers</a:t>
            </a:r>
          </a:p>
          <a:p>
            <a:r>
              <a:rPr lang="en-IN" sz="1600" b="1" dirty="0"/>
              <a:t>Era:</a:t>
            </a:r>
            <a:r>
              <a:rPr lang="en-IN" sz="1600" dirty="0"/>
              <a:t> 2017–present</a:t>
            </a:r>
          </a:p>
          <a:p>
            <a:r>
              <a:rPr lang="en-IN" sz="1600" b="1" dirty="0"/>
              <a:t>How it works:</a:t>
            </a:r>
            <a:r>
              <a:rPr lang="en-IN" sz="1600" dirty="0"/>
              <a:t> Self-attention creates full context matrix</a:t>
            </a:r>
          </a:p>
          <a:p>
            <a:r>
              <a:rPr lang="en-IN" sz="1600" b="1" dirty="0"/>
              <a:t>Strengths:</a:t>
            </a:r>
            <a:r>
              <a:rPr lang="en-IN" sz="1600" dirty="0"/>
              <a:t> </a:t>
            </a:r>
          </a:p>
          <a:p>
            <a:r>
              <a:rPr lang="en-IN" sz="1600" dirty="0"/>
              <a:t>✓ Captures global context </a:t>
            </a:r>
          </a:p>
          <a:p>
            <a:r>
              <a:rPr lang="en-IN" sz="1600" dirty="0"/>
              <a:t>✓ Fast parallel training </a:t>
            </a:r>
          </a:p>
          <a:p>
            <a:r>
              <a:rPr lang="en-IN" sz="1600" dirty="0"/>
              <a:t>✓ O(n²) memory</a:t>
            </a:r>
          </a:p>
          <a:p>
            <a:r>
              <a:rPr lang="en-IN" sz="1600" b="1" dirty="0"/>
              <a:t>Limitations:</a:t>
            </a:r>
            <a:r>
              <a:rPr lang="en-IN" sz="1600" dirty="0"/>
              <a:t> </a:t>
            </a:r>
          </a:p>
          <a:p>
            <a:r>
              <a:rPr lang="en-IN" sz="1600" dirty="0"/>
              <a:t>✗ O(n²) memory/compute </a:t>
            </a:r>
          </a:p>
          <a:p>
            <a:r>
              <a:rPr lang="en-IN" sz="1600" dirty="0"/>
              <a:t>✗ Not inherently sequential </a:t>
            </a:r>
          </a:p>
          <a:p>
            <a:r>
              <a:rPr lang="en-IN" sz="1600" dirty="0"/>
              <a:t>✗ Slow inference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CBA09-F02A-DB28-7C1B-A2D7276EE0C2}"/>
              </a:ext>
            </a:extLst>
          </p:cNvPr>
          <p:cNvSpPr txBox="1"/>
          <p:nvPr/>
        </p:nvSpPr>
        <p:spPr>
          <a:xfrm>
            <a:off x="6172201" y="1578429"/>
            <a:ext cx="2667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SSMs (S4, Mamba)</a:t>
            </a:r>
          </a:p>
          <a:p>
            <a:r>
              <a:rPr lang="en-IN" sz="1600" b="1" dirty="0"/>
              <a:t>Era:</a:t>
            </a:r>
            <a:r>
              <a:rPr lang="en-IN" sz="1600" dirty="0"/>
              <a:t> 2022–present</a:t>
            </a:r>
          </a:p>
          <a:p>
            <a:r>
              <a:rPr lang="en-IN" sz="1600" b="1" dirty="0"/>
              <a:t>How it works:</a:t>
            </a:r>
            <a:r>
              <a:rPr lang="en-IN" sz="1600" dirty="0"/>
              <a:t> Discretize ODE as linear recurrence</a:t>
            </a:r>
          </a:p>
          <a:p>
            <a:r>
              <a:rPr lang="en-IN" sz="1600" b="1" dirty="0"/>
              <a:t>Strengths:</a:t>
            </a:r>
          </a:p>
          <a:p>
            <a:r>
              <a:rPr lang="en-IN" sz="1600" dirty="0"/>
              <a:t> ✓ O(N) linear complexity</a:t>
            </a:r>
          </a:p>
          <a:p>
            <a:r>
              <a:rPr lang="en-IN" sz="1600" dirty="0"/>
              <a:t> ✓ Fast training </a:t>
            </a:r>
          </a:p>
          <a:p>
            <a:r>
              <a:rPr lang="en-IN" sz="1600" dirty="0"/>
              <a:t> ✓ Long-range memory</a:t>
            </a:r>
          </a:p>
          <a:p>
            <a:r>
              <a:rPr lang="en-IN" sz="1600" b="1" dirty="0"/>
              <a:t>Limitations:</a:t>
            </a:r>
            <a:r>
              <a:rPr lang="en-IN" sz="1600" dirty="0"/>
              <a:t> </a:t>
            </a:r>
          </a:p>
          <a:p>
            <a:r>
              <a:rPr lang="en-IN" sz="1600" dirty="0"/>
              <a:t>✗ No structural awareness </a:t>
            </a:r>
          </a:p>
          <a:p>
            <a:r>
              <a:rPr lang="en-IN" sz="1600" dirty="0"/>
              <a:t>✗ Independent dimensions </a:t>
            </a:r>
          </a:p>
          <a:p>
            <a:r>
              <a:rPr lang="en-IN" sz="1600" dirty="0"/>
              <a:t>✗ No topology</a:t>
            </a:r>
          </a:p>
        </p:txBody>
      </p:sp>
    </p:spTree>
    <p:extLst>
      <p:ext uri="{BB962C8B-B14F-4D97-AF65-F5344CB8AC3E}">
        <p14:creationId xmlns:p14="http://schemas.microsoft.com/office/powerpoint/2010/main" val="2264739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3331A6-DB4F-33D5-897A-C7D8ABF1A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842" y="1335994"/>
            <a:ext cx="8665029" cy="1243920"/>
          </a:xfrm>
        </p:spPr>
        <p:txBody>
          <a:bodyPr/>
          <a:lstStyle/>
          <a:p>
            <a:r>
              <a:rPr lang="en-US" sz="1600" b="1" dirty="0"/>
              <a:t>Key Insight</a:t>
            </a:r>
          </a:p>
          <a:p>
            <a:r>
              <a:rPr lang="en-US" sz="1600" dirty="0"/>
              <a:t>	Instead of learning memory via ad-hoc gates (LSTM), </a:t>
            </a:r>
            <a:r>
              <a:rPr lang="en-US" sz="1600" dirty="0" err="1"/>
              <a:t>HiPPO</a:t>
            </a:r>
            <a:r>
              <a:rPr lang="en-US" sz="1600" dirty="0"/>
              <a:t> asks: </a:t>
            </a:r>
            <a:r>
              <a:rPr lang="en-US" sz="1600" b="1" dirty="0"/>
              <a:t>"What is the mathematically OPTIMAL way to compress a continuous history signal into a fixed-size state?</a:t>
            </a:r>
            <a:endParaRPr lang="en-US" sz="1600" dirty="0"/>
          </a:p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D7ECF-4D0F-C027-ECF1-21A6FBC9D08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0" y="266563"/>
            <a:ext cx="7576457" cy="1143000"/>
          </a:xfrm>
        </p:spPr>
        <p:txBody>
          <a:bodyPr/>
          <a:lstStyle/>
          <a:p>
            <a:r>
              <a:rPr lang="en-US" sz="3200" dirty="0"/>
              <a:t>The </a:t>
            </a:r>
            <a:r>
              <a:rPr lang="en-US" sz="3200" dirty="0" err="1"/>
              <a:t>HiPPO</a:t>
            </a:r>
            <a:r>
              <a:rPr lang="en-US" sz="3200" dirty="0"/>
              <a:t> Framework: Optimal Memory for Sequences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13F095-FFD6-4D4F-CF06-E7DCE8E6D749}"/>
              </a:ext>
            </a:extLst>
          </p:cNvPr>
          <p:cNvSpPr txBox="1"/>
          <p:nvPr/>
        </p:nvSpPr>
        <p:spPr>
          <a:xfrm>
            <a:off x="261257" y="2688772"/>
            <a:ext cx="40113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Step 1: The Projection Problem</a:t>
            </a:r>
          </a:p>
          <a:p>
            <a:r>
              <a:rPr lang="en-IN" dirty="0"/>
              <a:t>Given continuous input f(t), find compressed state c(t) that best approximates entire history f(0...t) using N basis polynomials.</a:t>
            </a:r>
          </a:p>
          <a:p>
            <a:r>
              <a:rPr lang="en-IN" b="1" dirty="0"/>
              <a:t>Projection:</a:t>
            </a:r>
            <a:r>
              <a:rPr lang="en-IN" dirty="0"/>
              <a:t> </a:t>
            </a:r>
            <a:r>
              <a:rPr lang="el-GR" dirty="0"/>
              <a:t>Π(</a:t>
            </a:r>
            <a:r>
              <a:rPr lang="en-IN" dirty="0"/>
              <a:t>f) = </a:t>
            </a:r>
            <a:r>
              <a:rPr lang="el-GR" dirty="0"/>
              <a:t>Σ ⟨</a:t>
            </a:r>
            <a:r>
              <a:rPr lang="en-IN" dirty="0"/>
              <a:t>f, Pₙ⟩ Pₙ / ||Pₙ||²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713E23-FB4B-FEE8-EB0C-739536AED965}"/>
                  </a:ext>
                </a:extLst>
              </p:cNvPr>
              <p:cNvSpPr txBox="1"/>
              <p:nvPr/>
            </p:nvSpPr>
            <p:spPr>
              <a:xfrm>
                <a:off x="4272643" y="2642605"/>
                <a:ext cx="4532010" cy="1169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Step 2: The </a:t>
                </a:r>
                <a:r>
                  <a:rPr lang="en-US" b="1" dirty="0" err="1"/>
                  <a:t>HiPPO</a:t>
                </a:r>
                <a:r>
                  <a:rPr lang="en-US" b="1" dirty="0"/>
                  <a:t> ODE</a:t>
                </a:r>
              </a:p>
              <a:p>
                <a:r>
                  <a:rPr lang="en-US" dirty="0"/>
                  <a:t>The optimal projection coefficients evolve according to:</a:t>
                </a:r>
              </a:p>
              <a:p>
                <a:endParaRPr lang="en-US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fr-FR"/>
                        <m:t>dc</m:t>
                      </m:r>
                      <m:r>
                        <m:rPr>
                          <m:nor/>
                        </m:rPr>
                        <a:rPr lang="fr-FR"/>
                        <m:t>(</m:t>
                      </m:r>
                      <m:r>
                        <m:rPr>
                          <m:nor/>
                        </m:rPr>
                        <a:rPr lang="fr-FR"/>
                        <m:t>t</m:t>
                      </m:r>
                      <m:r>
                        <m:rPr>
                          <m:nor/>
                        </m:rPr>
                        <a:rPr lang="fr-FR"/>
                        <m:t>)/</m:t>
                      </m:r>
                      <m:r>
                        <m:rPr>
                          <m:nor/>
                        </m:rPr>
                        <a:rPr lang="fr-FR"/>
                        <m:t>dt</m:t>
                      </m:r>
                      <m:r>
                        <m:rPr>
                          <m:nor/>
                        </m:rPr>
                        <a:rPr lang="fr-FR"/>
                        <m:t> = </m:t>
                      </m:r>
                      <m:r>
                        <m:rPr>
                          <m:nor/>
                        </m:rPr>
                        <a:rPr lang="fr-FR"/>
                        <m:t>A</m:t>
                      </m:r>
                      <m:r>
                        <m:rPr>
                          <m:nor/>
                        </m:rPr>
                        <a:rPr lang="fr-FR"/>
                        <m:t>·</m:t>
                      </m:r>
                      <m:r>
                        <m:rPr>
                          <m:nor/>
                        </m:rPr>
                        <a:rPr lang="fr-FR"/>
                        <m:t>c</m:t>
                      </m:r>
                      <m:r>
                        <m:rPr>
                          <m:nor/>
                        </m:rPr>
                        <a:rPr lang="fr-FR"/>
                        <m:t>(</m:t>
                      </m:r>
                      <m:r>
                        <m:rPr>
                          <m:nor/>
                        </m:rPr>
                        <a:rPr lang="fr-FR"/>
                        <m:t>t</m:t>
                      </m:r>
                      <m:r>
                        <m:rPr>
                          <m:nor/>
                        </m:rPr>
                        <a:rPr lang="fr-FR"/>
                        <m:t>) + </m:t>
                      </m:r>
                      <m:r>
                        <m:rPr>
                          <m:nor/>
                        </m:rPr>
                        <a:rPr lang="fr-FR"/>
                        <m:t>B</m:t>
                      </m:r>
                      <m:r>
                        <m:rPr>
                          <m:nor/>
                        </m:rPr>
                        <a:rPr lang="fr-FR"/>
                        <m:t>·</m:t>
                      </m:r>
                      <m:r>
                        <m:rPr>
                          <m:nor/>
                        </m:rPr>
                        <a:rPr lang="fr-FR"/>
                        <m:t>f</m:t>
                      </m:r>
                      <m:r>
                        <m:rPr>
                          <m:nor/>
                        </m:rPr>
                        <a:rPr lang="fr-FR"/>
                        <m:t>(</m:t>
                      </m:r>
                      <m:r>
                        <m:rPr>
                          <m:nor/>
                        </m:rPr>
                        <a:rPr lang="fr-FR"/>
                        <m:t>t</m:t>
                      </m:r>
                      <m:r>
                        <m:rPr>
                          <m:nor/>
                        </m:rPr>
                        <a:rPr lang="fr-FR"/>
                        <m:t>)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713E23-FB4B-FEE8-EB0C-739536AED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643" y="2642605"/>
                <a:ext cx="4532010" cy="1169551"/>
              </a:xfrm>
              <a:prstGeom prst="rect">
                <a:avLst/>
              </a:prstGeom>
              <a:blipFill>
                <a:blip r:embed="rId2"/>
                <a:stretch>
                  <a:fillRect l="-404" t="-5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067B59C-E6BD-BF7A-B946-9F285423F88A}"/>
              </a:ext>
            </a:extLst>
          </p:cNvPr>
          <p:cNvSpPr txBox="1"/>
          <p:nvPr/>
        </p:nvSpPr>
        <p:spPr>
          <a:xfrm>
            <a:off x="457200" y="4245428"/>
            <a:ext cx="22479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 (State Matrix)</a:t>
            </a:r>
          </a:p>
          <a:p>
            <a:r>
              <a:rPr lang="en-US" dirty="0"/>
              <a:t>Derived from Legendre polynomials. Controls how old memories decay and rotate — ensures gradients never vanish.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D1FD0C-A51F-D0D7-2B47-50EA7806F8BF}"/>
              </a:ext>
            </a:extLst>
          </p:cNvPr>
          <p:cNvSpPr txBox="1"/>
          <p:nvPr/>
        </p:nvSpPr>
        <p:spPr>
          <a:xfrm>
            <a:off x="3124201" y="4294414"/>
            <a:ext cx="246017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 (Input Matrix)</a:t>
            </a:r>
          </a:p>
          <a:p>
            <a:r>
              <a:rPr lang="en-US" dirty="0"/>
              <a:t>Routes current input into polynomial basis. Injects new signals into the right frequency band.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4A0B69-6622-6F8B-58B7-EDB15555BE74}"/>
              </a:ext>
            </a:extLst>
          </p:cNvPr>
          <p:cNvSpPr txBox="1"/>
          <p:nvPr/>
        </p:nvSpPr>
        <p:spPr>
          <a:xfrm>
            <a:off x="5796645" y="4250871"/>
            <a:ext cx="236447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Result</a:t>
            </a:r>
          </a:p>
          <a:p>
            <a:r>
              <a:rPr lang="en-IN" dirty="0"/>
              <a:t>Infinite context, O(N) memory, zero vanishing gradients — mathematically optimal compression.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6107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F00FEE-1E2F-860A-D7DB-6F1F3E33C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3891643" cy="3072720"/>
          </a:xfrm>
        </p:spPr>
        <p:txBody>
          <a:bodyPr/>
          <a:lstStyle/>
          <a:p>
            <a:r>
              <a:rPr lang="en-US" sz="1800" b="1" dirty="0"/>
              <a:t>✓ Standard SSM on Text/Audio</a:t>
            </a:r>
          </a:p>
          <a:p>
            <a:r>
              <a:rPr lang="en-US" sz="1800" dirty="0"/>
              <a:t>✓ Inputs are independent dimensions</a:t>
            </a:r>
          </a:p>
          <a:p>
            <a:r>
              <a:rPr lang="en-US" sz="1800" dirty="0"/>
              <a:t>✓ Token 1 does not depend on Token 2</a:t>
            </a:r>
          </a:p>
          <a:p>
            <a:r>
              <a:rPr lang="en-US" sz="1800" dirty="0"/>
              <a:t>✓ Each position processed independently</a:t>
            </a:r>
          </a:p>
          <a:p>
            <a:r>
              <a:rPr lang="en-US" sz="1800" dirty="0"/>
              <a:t>✓ No topology to exploit</a:t>
            </a:r>
          </a:p>
          <a:p>
            <a:endParaRPr lang="en-IN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47152-0868-C9F0-F210-E615D1B98B6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-81643" y="350837"/>
            <a:ext cx="7429500" cy="1143000"/>
          </a:xfrm>
        </p:spPr>
        <p:txBody>
          <a:bodyPr/>
          <a:lstStyle/>
          <a:p>
            <a:r>
              <a:rPr lang="en-US" dirty="0"/>
              <a:t>The Gap: Why Standard SSMs Fail on Temporal Graphs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372B6-1315-7107-499B-4C2B44C7CF70}"/>
              </a:ext>
            </a:extLst>
          </p:cNvPr>
          <p:cNvSpPr txBox="1"/>
          <p:nvPr/>
        </p:nvSpPr>
        <p:spPr>
          <a:xfrm>
            <a:off x="4762501" y="1540329"/>
            <a:ext cx="314349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✗ Standard SSM on Temporal Graph</a:t>
            </a:r>
          </a:p>
          <a:p>
            <a:r>
              <a:rPr lang="en-US" sz="1600" b="1" dirty="0"/>
              <a:t>✗ Node features are NOT independent</a:t>
            </a:r>
            <a:r>
              <a:rPr lang="en-US" sz="1600" dirty="0"/>
              <a:t> — Node A and B are connected, their features influence each other</a:t>
            </a:r>
          </a:p>
          <a:p>
            <a:r>
              <a:rPr lang="en-US" sz="1600" b="1" dirty="0"/>
              <a:t>✗ Topology changes over time</a:t>
            </a:r>
            <a:r>
              <a:rPr lang="en-US" sz="1600" dirty="0"/>
              <a:t> — Adjacency matrix L(t) mutates, but SSM sees no structure</a:t>
            </a:r>
          </a:p>
          <a:p>
            <a:r>
              <a:rPr lang="en-US" sz="1600" b="1" dirty="0"/>
              <a:t>✗ Missing relational inductive bias</a:t>
            </a:r>
            <a:r>
              <a:rPr lang="en-US" sz="1600" dirty="0"/>
              <a:t> — Ignoring edges throws away most informative signal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611B3-6BF8-F626-5F40-1169E3C0562F}"/>
              </a:ext>
            </a:extLst>
          </p:cNvPr>
          <p:cNvSpPr txBox="1"/>
          <p:nvPr/>
        </p:nvSpPr>
        <p:spPr>
          <a:xfrm>
            <a:off x="304800" y="5097110"/>
            <a:ext cx="8572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Problem:</a:t>
            </a:r>
            <a:r>
              <a:rPr lang="en-US" dirty="0"/>
              <a:t> Processing node features independently treats a social network like 10,000 unrelated audio tracks — fundamentally wrong assumption.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3771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6B19F1-B6C9-99C4-6502-B7583969C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" y="1330551"/>
            <a:ext cx="9149443" cy="1276577"/>
          </a:xfrm>
        </p:spPr>
        <p:txBody>
          <a:bodyPr/>
          <a:lstStyle/>
          <a:p>
            <a:r>
              <a:rPr lang="en-US" b="1" dirty="0"/>
              <a:t>From Independent Memory Compression to Structure-Aware Memory Compression</a:t>
            </a:r>
          </a:p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751BD-D15D-6AA1-5825-AE80C1B183B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-38101" y="350837"/>
            <a:ext cx="7293429" cy="1143000"/>
          </a:xfrm>
        </p:spPr>
        <p:txBody>
          <a:bodyPr/>
          <a:lstStyle/>
          <a:p>
            <a:r>
              <a:rPr lang="en-IN" dirty="0"/>
              <a:t>GHIPPO: Graph-</a:t>
            </a:r>
            <a:r>
              <a:rPr lang="en-IN" dirty="0" err="1"/>
              <a:t>HiPPO</a:t>
            </a:r>
            <a:r>
              <a:rPr lang="en-IN" dirty="0"/>
              <a:t> — The Core Innovation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0B814C-AC0C-BD1F-AA7B-3F3305A045AC}"/>
              </a:ext>
            </a:extLst>
          </p:cNvPr>
          <p:cNvSpPr txBox="1"/>
          <p:nvPr/>
        </p:nvSpPr>
        <p:spPr>
          <a:xfrm>
            <a:off x="524602" y="2341755"/>
            <a:ext cx="404739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GHIPPO Idea in Plain English</a:t>
            </a:r>
          </a:p>
          <a:p>
            <a:r>
              <a:rPr lang="en-US" dirty="0"/>
              <a:t>When compressing history, we add a </a:t>
            </a:r>
            <a:r>
              <a:rPr lang="en-US" b="1" dirty="0"/>
              <a:t>penalty for adjacent nodes having very different compressed memories</a:t>
            </a:r>
            <a:r>
              <a:rPr lang="en-US" dirty="0"/>
              <a:t>. This forces the model to learn history in a way that respects graph structure — connected nodes should tell a consistent story about the past.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503659-8443-F551-414F-262B0D442C91}"/>
              </a:ext>
            </a:extLst>
          </p:cNvPr>
          <p:cNvSpPr txBox="1"/>
          <p:nvPr/>
        </p:nvSpPr>
        <p:spPr>
          <a:xfrm>
            <a:off x="5230585" y="2281221"/>
            <a:ext cx="26963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Innovation</a:t>
            </a:r>
          </a:p>
          <a:p>
            <a:r>
              <a:rPr lang="en-US" dirty="0"/>
              <a:t>The Laplacian </a:t>
            </a:r>
            <a:r>
              <a:rPr lang="en-US" dirty="0" err="1"/>
              <a:t>regularizer</a:t>
            </a:r>
            <a:r>
              <a:rPr lang="en-US" dirty="0"/>
              <a:t> Z(s)ᵀ L(s) Z(s) penalizes memory differences between topologically connected nodes. Minimizing this forces adjacent nodes to have similar histories.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21D12-C716-DC6D-4569-2EB257BFB1D8}"/>
              </a:ext>
            </a:extLst>
          </p:cNvPr>
          <p:cNvSpPr txBox="1"/>
          <p:nvPr/>
        </p:nvSpPr>
        <p:spPr>
          <a:xfrm>
            <a:off x="582385" y="4474028"/>
            <a:ext cx="343444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Term 1: Feature Accuracy</a:t>
            </a:r>
          </a:p>
          <a:p>
            <a:r>
              <a:rPr lang="en-US" dirty="0" err="1"/>
              <a:t>L_t</a:t>
            </a:r>
            <a:r>
              <a:rPr lang="en-US" dirty="0"/>
              <a:t> = ∫||X(s)−Z(s)||² </a:t>
            </a:r>
            <a:r>
              <a:rPr lang="en-US" dirty="0" err="1"/>
              <a:t>dμ_t</a:t>
            </a:r>
            <a:r>
              <a:rPr lang="en-US" dirty="0"/>
              <a:t>(s)</a:t>
            </a:r>
          </a:p>
          <a:p>
            <a:r>
              <a:rPr lang="en-US" dirty="0"/>
              <a:t>Memory Z(s) must accurately reconstruct node features X(s) at each moment. Standard </a:t>
            </a:r>
            <a:r>
              <a:rPr lang="en-US" dirty="0" err="1"/>
              <a:t>HiPPO</a:t>
            </a:r>
            <a:r>
              <a:rPr lang="en-US" dirty="0"/>
              <a:t> compression term — nothing changes here.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FB7A4F-EED2-ED04-B619-D0451E7B753D}"/>
              </a:ext>
            </a:extLst>
          </p:cNvPr>
          <p:cNvSpPr txBox="1"/>
          <p:nvPr/>
        </p:nvSpPr>
        <p:spPr>
          <a:xfrm>
            <a:off x="4855028" y="4515740"/>
            <a:ext cx="38799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Term 2: Laplacian </a:t>
            </a:r>
            <a:r>
              <a:rPr lang="en-US" b="1" dirty="0" err="1"/>
              <a:t>Regularizer</a:t>
            </a:r>
            <a:endParaRPr lang="en-US" b="1" dirty="0"/>
          </a:p>
          <a:p>
            <a:r>
              <a:rPr lang="en-US" dirty="0"/>
              <a:t>+ α·∫Z(s)ᵀ L(s) Z(s) </a:t>
            </a:r>
            <a:r>
              <a:rPr lang="en-US" dirty="0" err="1"/>
              <a:t>dμ_t</a:t>
            </a:r>
            <a:r>
              <a:rPr lang="en-US" dirty="0"/>
              <a:t>(s)</a:t>
            </a:r>
          </a:p>
          <a:p>
            <a:r>
              <a:rPr lang="en-US" dirty="0"/>
              <a:t>The graph Laplacian L(s) encodes "who is neighbors with whom" — minimizing this forces adjacent nodes to have similar histories.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0824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2E22E6-3DC5-C085-DD71-CF03D8A77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799" y="1493837"/>
            <a:ext cx="8632371" cy="2076677"/>
          </a:xfrm>
        </p:spPr>
        <p:txBody>
          <a:bodyPr/>
          <a:lstStyle/>
          <a:p>
            <a:r>
              <a:rPr lang="en-IN" sz="1800" b="1" dirty="0"/>
              <a:t>THEOREM 1 (The GHIPPO ODE)</a:t>
            </a:r>
          </a:p>
          <a:p>
            <a:r>
              <a:rPr lang="en-IN" sz="1800" dirty="0"/>
              <a:t>For a temporal graph G evolving with M mutation events, the optimal memory state U(t) ∈ ℝ^(Nᵥ×N) satisfies:</a:t>
            </a:r>
          </a:p>
          <a:p>
            <a:r>
              <a:rPr lang="en-IN" sz="1800" b="1" dirty="0"/>
              <a:t>for t ∈ [t_{m-1}, </a:t>
            </a:r>
            <a:r>
              <a:rPr lang="en-IN" sz="1800" b="1" dirty="0" err="1"/>
              <a:t>t_m</a:t>
            </a:r>
            <a:r>
              <a:rPr lang="en-IN" sz="1800" b="1" dirty="0"/>
              <a:t>)</a:t>
            </a:r>
            <a:endParaRPr lang="en-IN" sz="1800" dirty="0"/>
          </a:p>
          <a:p>
            <a:r>
              <a:rPr lang="en-IN" sz="1800" dirty="0"/>
              <a:t>		</a:t>
            </a:r>
            <a:r>
              <a:rPr lang="fr-FR" sz="1800" dirty="0" err="1"/>
              <a:t>dU</a:t>
            </a:r>
            <a:r>
              <a:rPr lang="fr-FR" sz="1800" dirty="0"/>
              <a:t>(t)/</a:t>
            </a:r>
            <a:r>
              <a:rPr lang="fr-FR" sz="1800" dirty="0" err="1"/>
              <a:t>dt</a:t>
            </a:r>
            <a:r>
              <a:rPr lang="fr-FR" sz="1800" dirty="0"/>
              <a:t> = U(t)Aᵀ + (I + αL(t))⁻¹ · X(t) · Bᵀ</a:t>
            </a:r>
            <a:endParaRPr lang="en-IN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65439-BD2D-4DA7-ACDD-5AC1008649D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-125185" y="250235"/>
            <a:ext cx="7222671" cy="1143000"/>
          </a:xfrm>
        </p:spPr>
        <p:txBody>
          <a:bodyPr/>
          <a:lstStyle/>
          <a:p>
            <a:r>
              <a:rPr lang="en-US" sz="3200" dirty="0"/>
              <a:t>Theorem 1: The GHIPPO ODE — Derived from First Principles</a:t>
            </a:r>
          </a:p>
          <a:p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3E128-18CF-230E-41D5-0B732CBC74B9}"/>
              </a:ext>
            </a:extLst>
          </p:cNvPr>
          <p:cNvSpPr txBox="1"/>
          <p:nvPr/>
        </p:nvSpPr>
        <p:spPr>
          <a:xfrm>
            <a:off x="517072" y="3520341"/>
            <a:ext cx="247105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U(t)Aᵀ</a:t>
            </a:r>
          </a:p>
          <a:p>
            <a:r>
              <a:rPr lang="en-US" b="1" dirty="0"/>
              <a:t>Temporal Decay (Memory Aging)</a:t>
            </a:r>
            <a:endParaRPr lang="en-US" dirty="0"/>
          </a:p>
          <a:p>
            <a:r>
              <a:rPr lang="en-US" dirty="0"/>
              <a:t>A is the </a:t>
            </a:r>
            <a:r>
              <a:rPr lang="en-US" dirty="0" err="1"/>
              <a:t>HiPPO-LegS</a:t>
            </a:r>
            <a:r>
              <a:rPr lang="en-US" dirty="0"/>
              <a:t> matrix. This term makes old memories fade according to mathematically optimal Legendre polynomial decay — not randomly, but in structured way that preserves important long-range patterns.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06FC2A-3F52-D7FC-4C5D-61CCA142B666}"/>
              </a:ext>
            </a:extLst>
          </p:cNvPr>
          <p:cNvSpPr txBox="1"/>
          <p:nvPr/>
        </p:nvSpPr>
        <p:spPr>
          <a:xfrm>
            <a:off x="3200402" y="3542112"/>
            <a:ext cx="280306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(I+αL(t))⁻¹</a:t>
            </a:r>
          </a:p>
          <a:p>
            <a:r>
              <a:rPr lang="en-US" b="1" dirty="0"/>
              <a:t>Infinite Spatial Diffusion (New!)</a:t>
            </a:r>
            <a:endParaRPr lang="en-US" dirty="0"/>
          </a:p>
          <a:p>
            <a:r>
              <a:rPr lang="en-US" dirty="0"/>
              <a:t>Key innovation. Before updating memory, features are diffused across entire graph structure infinitely many times. Equivalent to running message-passing until convergence — every node's history is smoothed by its neighborhood.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4506D6-0FE2-B32A-7BC3-1F51A8E99589}"/>
              </a:ext>
            </a:extLst>
          </p:cNvPr>
          <p:cNvSpPr txBox="1"/>
          <p:nvPr/>
        </p:nvSpPr>
        <p:spPr>
          <a:xfrm>
            <a:off x="6340931" y="3677548"/>
            <a:ext cx="24262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X(t)·Bᵀ</a:t>
            </a:r>
          </a:p>
          <a:p>
            <a:r>
              <a:rPr lang="en-US" b="1" dirty="0"/>
              <a:t>New Input Injection</a:t>
            </a:r>
            <a:endParaRPr lang="en-US" dirty="0"/>
          </a:p>
          <a:p>
            <a:r>
              <a:rPr lang="en-US" dirty="0"/>
              <a:t>B routes the current (diffused) input into polynomial basis of state space. Same as standard </a:t>
            </a:r>
            <a:r>
              <a:rPr lang="en-US" dirty="0" err="1"/>
              <a:t>HiPPO</a:t>
            </a:r>
            <a:r>
              <a:rPr lang="en-US" dirty="0"/>
              <a:t> — inject new information into the state.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3480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948E7D-9150-F62A-C18F-1AB5F3C41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75052" y="3043405"/>
            <a:ext cx="5938156" cy="907256"/>
          </a:xfrm>
        </p:spPr>
        <p:txBody>
          <a:bodyPr/>
          <a:lstStyle/>
          <a:p>
            <a:r>
              <a:rPr lang="en-IN" sz="1400" dirty="0"/>
              <a:t>(I + </a:t>
            </a:r>
            <a:r>
              <a:rPr lang="el-GR" sz="1400" dirty="0"/>
              <a:t>α</a:t>
            </a:r>
            <a:r>
              <a:rPr lang="en-IN" sz="1400" dirty="0"/>
              <a:t>L(t))⁻¹ · X(t)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BC9DF-6253-09EF-878A-B7EE26B5447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04800" y="350837"/>
            <a:ext cx="6324600" cy="1143000"/>
          </a:xfrm>
        </p:spPr>
        <p:txBody>
          <a:bodyPr/>
          <a:lstStyle/>
          <a:p>
            <a:r>
              <a:rPr lang="en-IN" dirty="0"/>
              <a:t>The Diffuse-Then-Update Mechanism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D4CA41-0798-9D9D-9EE4-870677B93978}"/>
              </a:ext>
            </a:extLst>
          </p:cNvPr>
          <p:cNvSpPr txBox="1"/>
          <p:nvPr/>
        </p:nvSpPr>
        <p:spPr>
          <a:xfrm>
            <a:off x="8920843" y="214448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EC2A30-4BA1-BE44-5123-6E844568150D}"/>
              </a:ext>
            </a:extLst>
          </p:cNvPr>
          <p:cNvSpPr txBox="1"/>
          <p:nvPr/>
        </p:nvSpPr>
        <p:spPr>
          <a:xfrm>
            <a:off x="506186" y="1652044"/>
            <a:ext cx="82296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Stage 1 — Infinite Spatial Diffusion</a:t>
            </a:r>
          </a:p>
          <a:p>
            <a:r>
              <a:rPr lang="en-US" dirty="0"/>
              <a:t>Multiplying by (I + αL)⁻¹ is mathematically identical to running message-passing INFINITELY many times. Using Taylor expansion: (I + αL)⁻¹ = I − αL + α²L² − α³L³ + ... Each Lᵏ term is one more 'hop' of message passing across the graph. Summing all hops to infinity means every node absorbs information from ALL other nodes, weighted by distance.</a:t>
            </a:r>
          </a:p>
          <a:p>
            <a:r>
              <a:rPr lang="en-US" b="1" dirty="0"/>
              <a:t>Result:</a:t>
            </a:r>
            <a:r>
              <a:rPr lang="en-US" dirty="0"/>
              <a:t> Fully denoised, globally smoothed features that respect the graph's topology.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AB0B77-C1B4-733C-6A1A-1354E7D8E373}"/>
              </a:ext>
            </a:extLst>
          </p:cNvPr>
          <p:cNvSpPr txBox="1"/>
          <p:nvPr/>
        </p:nvSpPr>
        <p:spPr>
          <a:xfrm>
            <a:off x="620487" y="3605519"/>
            <a:ext cx="56796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Stage 2 — Temporal Memory Update</a:t>
            </a:r>
          </a:p>
          <a:p>
            <a:r>
              <a:rPr lang="en-US" dirty="0"/>
              <a:t>Once features are spatially smoothed, they are injected into the temporal state. </a:t>
            </a:r>
            <a:r>
              <a:rPr lang="en-US" b="1" dirty="0"/>
              <a:t>U(t)·Aᵀ:</a:t>
            </a:r>
            <a:r>
              <a:rPr lang="en-US" dirty="0"/>
              <a:t> Existing memory decays according to </a:t>
            </a:r>
            <a:r>
              <a:rPr lang="en-US" dirty="0" err="1"/>
              <a:t>HiPPO</a:t>
            </a:r>
            <a:r>
              <a:rPr lang="en-US" dirty="0"/>
              <a:t> matrix — long-range information preserved without vanishing gradients. </a:t>
            </a:r>
            <a:r>
              <a:rPr lang="en-US" b="1" dirty="0" err="1"/>
              <a:t>diffused_input·B</a:t>
            </a:r>
            <a:r>
              <a:rPr lang="en-US" b="1" dirty="0"/>
              <a:t>ᵀ:</a:t>
            </a:r>
            <a:r>
              <a:rPr lang="en-US" dirty="0"/>
              <a:t> Spatially-denoised features added to state, encoded into polynomial basis defined by B.</a:t>
            </a:r>
          </a:p>
          <a:p>
            <a:r>
              <a:rPr lang="en-US" b="1" dirty="0"/>
              <a:t>The state U(t) is now BOTH temporally compressed (via </a:t>
            </a:r>
            <a:r>
              <a:rPr lang="en-US" b="1" dirty="0" err="1"/>
              <a:t>HiPPO</a:t>
            </a:r>
            <a:r>
              <a:rPr lang="en-US" b="1" dirty="0"/>
              <a:t>) AND spatially aware (via Laplacian diffusion).</a:t>
            </a:r>
            <a:endParaRPr lang="en-US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184B02-0861-6737-1299-385FDD424EF3}"/>
              </a:ext>
            </a:extLst>
          </p:cNvPr>
          <p:cNvSpPr txBox="1"/>
          <p:nvPr/>
        </p:nvSpPr>
        <p:spPr>
          <a:xfrm>
            <a:off x="2911929" y="5524502"/>
            <a:ext cx="2776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dU</a:t>
            </a:r>
            <a:r>
              <a:rPr lang="en-IN" dirty="0"/>
              <a:t>/dt = U·Aᵀ + </a:t>
            </a:r>
            <a:r>
              <a:rPr lang="en-IN" dirty="0" err="1"/>
              <a:t>diffused_input·B</a:t>
            </a:r>
            <a:r>
              <a:rPr lang="en-IN" dirty="0"/>
              <a:t>ᵀ</a:t>
            </a:r>
          </a:p>
        </p:txBody>
      </p:sp>
    </p:spTree>
    <p:extLst>
      <p:ext uri="{BB962C8B-B14F-4D97-AF65-F5344CB8AC3E}">
        <p14:creationId xmlns:p14="http://schemas.microsoft.com/office/powerpoint/2010/main" val="1936301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2691B4-AF54-8692-961A-B768BA9DA32E}"/>
              </a:ext>
            </a:extLst>
          </p:cNvPr>
          <p:cNvSpPr txBox="1"/>
          <p:nvPr/>
        </p:nvSpPr>
        <p:spPr>
          <a:xfrm>
            <a:off x="223159" y="435430"/>
            <a:ext cx="78921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Discretization Dilemma: Unobserved Graph Mutations</a:t>
            </a:r>
          </a:p>
          <a:p>
            <a:r>
              <a:rPr lang="en-US" b="1" dirty="0"/>
              <a:t>In Theory GHIPPO is Perfect. But Real Data is DISCRETE — and Mutations Happen in the Gaps We Can't See.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86891B-5546-77D0-2DC5-085722D95F16}"/>
              </a:ext>
            </a:extLst>
          </p:cNvPr>
          <p:cNvSpPr txBox="1"/>
          <p:nvPr/>
        </p:nvSpPr>
        <p:spPr>
          <a:xfrm>
            <a:off x="555171" y="1772392"/>
            <a:ext cx="40168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Standard ZOH Fails</a:t>
            </a:r>
          </a:p>
          <a:p>
            <a:r>
              <a:rPr lang="en-US" dirty="0"/>
              <a:t>Zero-Order Hold (ZOH) discretization assumes the system is STATIC between observations. It treats G₁ as the graph for the entire interval [τ₁, τ₂]. This is FALSE — the graph was actually mutating the whole time, and using G₁ for the full interval introduces systematic error.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59C53E-9098-4245-D12F-7785C9B6254C}"/>
              </a:ext>
            </a:extLst>
          </p:cNvPr>
          <p:cNvSpPr txBox="1"/>
          <p:nvPr/>
        </p:nvSpPr>
        <p:spPr>
          <a:xfrm>
            <a:off x="5001985" y="1772392"/>
            <a:ext cx="36265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We Need</a:t>
            </a:r>
          </a:p>
          <a:p>
            <a:r>
              <a:rPr lang="en-US" dirty="0"/>
              <a:t>We need a discretization scheme that accounts for the unknown mutations between snapshots — blending the topology of G_{l-1} and </a:t>
            </a:r>
            <a:r>
              <a:rPr lang="en-US" dirty="0" err="1"/>
              <a:t>G_l</a:t>
            </a:r>
            <a:r>
              <a:rPr lang="en-US" dirty="0"/>
              <a:t> to form a best-guess "effective" input that represents the true (but unobservable) trajectory of the graph.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C0FE8A-5E3A-82A6-9726-8B8769716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1" y="3701143"/>
            <a:ext cx="7309758" cy="265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05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E225BC-34D1-C483-E42E-E583BE13E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493838"/>
            <a:ext cx="8229600" cy="2348820"/>
          </a:xfrm>
        </p:spPr>
        <p:txBody>
          <a:bodyPr/>
          <a:lstStyle/>
          <a:p>
            <a:r>
              <a:rPr lang="en-IN" sz="1800" dirty="0"/>
              <a:t>What would the perfect discrete update look like if we could observe all hidden graph mutations? Theorem 2 provides the mathematical answer.</a:t>
            </a:r>
          </a:p>
          <a:p>
            <a:r>
              <a:rPr lang="en-IN" sz="1800" b="1" dirty="0"/>
              <a:t>		Uₗ = Uₗ₋₁ · exp(</a:t>
            </a:r>
            <a:r>
              <a:rPr lang="el-GR" sz="1800" b="1" dirty="0"/>
              <a:t>Δ</a:t>
            </a:r>
            <a:r>
              <a:rPr lang="en-IN" sz="1800" b="1" dirty="0"/>
              <a:t>ₗ·A) + X̃ₗ · (exp(</a:t>
            </a:r>
            <a:r>
              <a:rPr lang="el-GR" sz="1800" b="1" dirty="0"/>
              <a:t>Δ</a:t>
            </a:r>
            <a:r>
              <a:rPr lang="en-IN" sz="1800" b="1" dirty="0"/>
              <a:t>ₗ·A) − I) · A⁻¹</a:t>
            </a:r>
          </a:p>
          <a:p>
            <a:r>
              <a:rPr lang="en-IN" sz="1800" dirty="0"/>
              <a:t>		where X̃ₗ = </a:t>
            </a:r>
            <a:r>
              <a:rPr lang="el-GR" sz="1800" dirty="0"/>
              <a:t>Σ</a:t>
            </a:r>
            <a:r>
              <a:rPr lang="en-IN" sz="1800" dirty="0"/>
              <a:t>ᵢ (I + </a:t>
            </a:r>
            <a:r>
              <a:rPr lang="el-GR" sz="1800" dirty="0"/>
              <a:t>α</a:t>
            </a:r>
            <a:r>
              <a:rPr lang="en-IN" sz="1800" dirty="0"/>
              <a:t>Lₗ,ᵢ)⁻¹ Xₗ,ᵢ </a:t>
            </a:r>
            <a:r>
              <a:rPr lang="el-GR" sz="1800" dirty="0"/>
              <a:t>Λ</a:t>
            </a:r>
            <a:r>
              <a:rPr lang="en-IN" sz="1800" dirty="0"/>
              <a:t>ᵢ Bᵀ and </a:t>
            </a:r>
            <a:r>
              <a:rPr lang="el-GR" sz="1800" dirty="0"/>
              <a:t>Σ</a:t>
            </a:r>
            <a:r>
              <a:rPr lang="en-IN" sz="1800" dirty="0"/>
              <a:t>ᵢ </a:t>
            </a:r>
            <a:r>
              <a:rPr lang="el-GR" sz="1800" dirty="0"/>
              <a:t>Λ</a:t>
            </a:r>
            <a:r>
              <a:rPr lang="en-IN" sz="1800" dirty="0"/>
              <a:t>ᵢ = I</a:t>
            </a:r>
          </a:p>
          <a:p>
            <a:r>
              <a:rPr lang="en-IN" sz="1800" dirty="0"/>
              <a:t>X̃ₗ represents a convex combination of all intermediate diffused node features, weighted by how long each graph topology persisted between mutations.</a:t>
            </a:r>
          </a:p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A027E-6D0B-1C98-59D2-4DBD73AB871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36072" y="350837"/>
            <a:ext cx="6324600" cy="1143000"/>
          </a:xfrm>
        </p:spPr>
        <p:txBody>
          <a:bodyPr/>
          <a:lstStyle/>
          <a:p>
            <a:r>
              <a:rPr lang="en-IN" dirty="0"/>
              <a:t>The Oracle Discretization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F34A7B-D8AA-7A70-B02A-DA29FB422E44}"/>
              </a:ext>
            </a:extLst>
          </p:cNvPr>
          <p:cNvSpPr txBox="1"/>
          <p:nvPr/>
        </p:nvSpPr>
        <p:spPr>
          <a:xfrm>
            <a:off x="653143" y="4161293"/>
            <a:ext cx="23894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Uₗ₋₁·exp(</a:t>
            </a:r>
            <a:r>
              <a:rPr lang="el-GR" b="1" dirty="0"/>
              <a:t>Δ</a:t>
            </a:r>
            <a:r>
              <a:rPr lang="en-IN" b="1" dirty="0"/>
              <a:t>ₗA)</a:t>
            </a:r>
          </a:p>
          <a:p>
            <a:r>
              <a:rPr lang="en-IN" dirty="0"/>
              <a:t>Memory decay over time gap </a:t>
            </a:r>
            <a:r>
              <a:rPr lang="el-GR" dirty="0"/>
              <a:t>Δ</a:t>
            </a:r>
            <a:r>
              <a:rPr lang="en-IN" dirty="0"/>
              <a:t>ₗ via matrix exponential. Larger gaps induce more decay.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9FB99-D0ED-DBDB-DECB-CE489D92C6B7}"/>
              </a:ext>
            </a:extLst>
          </p:cNvPr>
          <p:cNvSpPr txBox="1"/>
          <p:nvPr/>
        </p:nvSpPr>
        <p:spPr>
          <a:xfrm>
            <a:off x="3080659" y="4161293"/>
            <a:ext cx="26833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X̃ₗ·(exp−I)·A⁻¹</a:t>
            </a:r>
          </a:p>
          <a:p>
            <a:r>
              <a:rPr lang="en-US" dirty="0"/>
              <a:t>Convex blend of all hidden intermediate states. Weights proportional to topology persistence.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5DE2BB-0CB9-D134-AC4E-215D3A54198F}"/>
              </a:ext>
            </a:extLst>
          </p:cNvPr>
          <p:cNvSpPr txBox="1"/>
          <p:nvPr/>
        </p:nvSpPr>
        <p:spPr>
          <a:xfrm>
            <a:off x="5932714" y="4194611"/>
            <a:ext cx="29100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Λᵢ (weights)</a:t>
            </a:r>
          </a:p>
          <a:p>
            <a:r>
              <a:rPr lang="en-US" dirty="0"/>
              <a:t>Diagonal matrices summing to identity — partition of unity ensures no time double-counted.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978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080924-34CA-F027-75E6-15088A47A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493837"/>
            <a:ext cx="8229600" cy="2131106"/>
          </a:xfrm>
        </p:spPr>
        <p:txBody>
          <a:bodyPr/>
          <a:lstStyle/>
          <a:p>
            <a:r>
              <a:rPr lang="en-US" sz="1800" dirty="0"/>
              <a:t>Theorem 2 requires all hidden mutations — impossible in practice. We approximate using observed snapshots Gₗ₋₁, Xₗ₋₁ and Gₗ, Xₗ.</a:t>
            </a:r>
          </a:p>
          <a:p>
            <a:r>
              <a:rPr lang="fr-FR" sz="1800" b="1" dirty="0"/>
              <a:t>Spatial Diffusion</a:t>
            </a:r>
          </a:p>
          <a:p>
            <a:r>
              <a:rPr lang="fr-FR" sz="1800" dirty="0"/>
              <a:t>(I+αL)⁻¹ </a:t>
            </a:r>
            <a:r>
              <a:rPr lang="fr-FR" sz="1800" dirty="0" err="1"/>
              <a:t>requires</a:t>
            </a:r>
            <a:r>
              <a:rPr lang="fr-FR" sz="1800" dirty="0"/>
              <a:t> O(N³) dense matrix inversion — </a:t>
            </a:r>
            <a:r>
              <a:rPr lang="fr-FR" sz="1800" dirty="0" err="1"/>
              <a:t>infeasible</a:t>
            </a:r>
            <a:r>
              <a:rPr lang="fr-FR" sz="1800" dirty="0"/>
              <a:t> on large graphs.</a:t>
            </a:r>
          </a:p>
          <a:p>
            <a:r>
              <a:rPr lang="en-US" sz="1800" b="1" dirty="0"/>
              <a:t>Temporal Blending</a:t>
            </a:r>
          </a:p>
          <a:p>
            <a:r>
              <a:rPr lang="en-US" sz="1800" dirty="0"/>
              <a:t>Convex combination Σ Λᵢ needs unobserved mutation times.</a:t>
            </a:r>
          </a:p>
          <a:p>
            <a:endParaRPr lang="en-IN" sz="1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7201F-7B6A-FEE4-09FB-2AC89A53EEF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8728" y="350837"/>
            <a:ext cx="6324600" cy="1143000"/>
          </a:xfrm>
        </p:spPr>
        <p:txBody>
          <a:bodyPr/>
          <a:lstStyle/>
          <a:p>
            <a:r>
              <a:rPr lang="en-US" sz="3200" dirty="0"/>
              <a:t>Mixed Discretization: Making the Oracle Practical</a:t>
            </a:r>
          </a:p>
          <a:p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F883D-109D-B747-34E4-DA1EA6417C1C}"/>
              </a:ext>
            </a:extLst>
          </p:cNvPr>
          <p:cNvSpPr txBox="1"/>
          <p:nvPr/>
        </p:nvSpPr>
        <p:spPr>
          <a:xfrm>
            <a:off x="740229" y="3907972"/>
            <a:ext cx="21825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Ordinary ZOH</a:t>
            </a:r>
          </a:p>
          <a:p>
            <a:r>
              <a:rPr lang="en-US" dirty="0"/>
              <a:t>X̂ᴼ = GNN(Xₗ, Gₗ)</a:t>
            </a:r>
          </a:p>
          <a:p>
            <a:r>
              <a:rPr lang="en-US" dirty="0"/>
              <a:t>No blending. Fast but ignores transitions.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0CAE1-DC3A-625A-8BE3-E8265C3C6534}"/>
              </a:ext>
            </a:extLst>
          </p:cNvPr>
          <p:cNvSpPr txBox="1"/>
          <p:nvPr/>
        </p:nvSpPr>
        <p:spPr>
          <a:xfrm>
            <a:off x="3445328" y="3907971"/>
            <a:ext cx="2590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Feature Mixing</a:t>
            </a:r>
          </a:p>
          <a:p>
            <a:r>
              <a:rPr lang="en-IN" dirty="0"/>
              <a:t>X̂ᶠ = GNN(MIX(Xₗ₋₁,Xₗ), Gₗ)</a:t>
            </a:r>
          </a:p>
          <a:p>
            <a:r>
              <a:rPr lang="en-IN" dirty="0"/>
              <a:t>Blend before diffusion. One MIX operation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679FF8-5402-0F75-DD48-869047A79BE1}"/>
              </a:ext>
            </a:extLst>
          </p:cNvPr>
          <p:cNvSpPr txBox="1"/>
          <p:nvPr/>
        </p:nvSpPr>
        <p:spPr>
          <a:xfrm>
            <a:off x="6085114" y="3842656"/>
            <a:ext cx="27584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Representation Mixing</a:t>
            </a:r>
          </a:p>
          <a:p>
            <a:r>
              <a:rPr lang="en-IN" dirty="0"/>
              <a:t>X̂ᴿ = MIX(GNN(Xₗ₋₁,Gₗ₋₁), GNN(Xₗ,Gₗ))</a:t>
            </a:r>
          </a:p>
          <a:p>
            <a:r>
              <a:rPr lang="en-IN" dirty="0"/>
              <a:t>Diffuse independently, then blend. Best performance.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C36440-8058-3C50-7DD9-4B591FCAA6A6}"/>
              </a:ext>
            </a:extLst>
          </p:cNvPr>
          <p:cNvSpPr txBox="1"/>
          <p:nvPr/>
        </p:nvSpPr>
        <p:spPr>
          <a:xfrm>
            <a:off x="1034145" y="5322450"/>
            <a:ext cx="76146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Solution:</a:t>
            </a:r>
            <a:r>
              <a:rPr lang="en-IN" dirty="0"/>
              <a:t> Approximate (I+</a:t>
            </a:r>
            <a:r>
              <a:rPr lang="el-GR" dirty="0"/>
              <a:t>α</a:t>
            </a:r>
            <a:r>
              <a:rPr lang="en-IN" dirty="0"/>
              <a:t>L)⁻¹ with 1-layer trainable GNN. Taylor series shows (I+</a:t>
            </a:r>
            <a:r>
              <a:rPr lang="el-GR" dirty="0"/>
              <a:t>α</a:t>
            </a:r>
            <a:r>
              <a:rPr lang="en-IN" dirty="0"/>
              <a:t>L)⁻¹ ≈ I − </a:t>
            </a:r>
            <a:r>
              <a:rPr lang="el-GR" dirty="0"/>
              <a:t>α</a:t>
            </a:r>
            <a:r>
              <a:rPr lang="en-IN" dirty="0"/>
              <a:t>L, equivalent to GCN/SAGE message passing. Learn MIX module to blend snapshots and guess average intermediate state.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5502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E18CBDE-D9E0-1ADB-2A5F-3E593E3C5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9B021-23FB-3C4C-0DDA-44B9C379D8E8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A65713-D79B-8CF2-0D94-85E9BBEFA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1559151"/>
            <a:ext cx="8877300" cy="4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938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501ED4-D9D3-2298-2471-093BD6E98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4CD8A-0F3F-0D5B-DF58-D4791FB9C81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575525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</TotalTime>
  <Words>1842</Words>
  <Application>Microsoft Office PowerPoint</Application>
  <PresentationFormat>On-screen Show (4:3)</PresentationFormat>
  <Paragraphs>157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2_Office Theme</vt:lpstr>
      <vt:lpstr>4_Office Theme</vt:lpstr>
      <vt:lpstr>State Space Models on Temporal Graphs A First-Principles Study: The GRAPHSSM Framework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Ankit Kumar Singh</cp:lastModifiedBy>
  <cp:revision>2</cp:revision>
  <dcterms:modified xsi:type="dcterms:W3CDTF">2026-03-17T18:13:01Z</dcterms:modified>
</cp:coreProperties>
</file>